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c29966d5f54775" /><Relationship Type="http://schemas.openxmlformats.org/officeDocument/2006/relationships/extended-properties" Target="/docProps/app.xml" Id="R0089d34066264bf7" /><Relationship Type="http://schemas.openxmlformats.org/officeDocument/2006/relationships/officeDocument" Target="/ppt/presentation.xml" Id="R3d43e5fe919c4a1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61b7ddaf0048e6"/>
  </p:sldMasterIdLst>
  <p:notesMasterIdLst>
    <p:notesMasterId xmlns:r="http://schemas.openxmlformats.org/officeDocument/2006/relationships" r:id="R521eb759bb8845d6"/>
  </p:notesMasterIdLst>
  <p:sldIdLst>
    <p:sldId xmlns:r="http://schemas.openxmlformats.org/officeDocument/2006/relationships" id="256" r:id="R8557658ab76e4587"/>
    <p:sldId xmlns:r="http://schemas.openxmlformats.org/officeDocument/2006/relationships" id="257" r:id="Rfd9388af44394d7e"/>
    <p:sldId xmlns:r="http://schemas.openxmlformats.org/officeDocument/2006/relationships" id="258" r:id="R896cf3ee31ad4509"/>
    <p:sldId xmlns:r="http://schemas.openxmlformats.org/officeDocument/2006/relationships" id="259" r:id="R7e97442bf3404122"/>
    <p:sldId xmlns:r="http://schemas.openxmlformats.org/officeDocument/2006/relationships" id="260" r:id="R3f9c3611d0484c26"/>
    <p:sldId xmlns:r="http://schemas.openxmlformats.org/officeDocument/2006/relationships" id="261" r:id="R4afa504dc0a34147"/>
    <p:sldId xmlns:r="http://schemas.openxmlformats.org/officeDocument/2006/relationships" id="262" r:id="R7ac29c06a35b4690"/>
    <p:sldId xmlns:r="http://schemas.openxmlformats.org/officeDocument/2006/relationships" id="263" r:id="Rea531fac54ad4177"/>
    <p:sldId xmlns:r="http://schemas.openxmlformats.org/officeDocument/2006/relationships" id="264" r:id="R7f2414ac182d472c"/>
    <p:sldId xmlns:r="http://schemas.openxmlformats.org/officeDocument/2006/relationships" id="265" r:id="Re03fdf501e8f466c"/>
    <p:sldId xmlns:r="http://schemas.openxmlformats.org/officeDocument/2006/relationships" id="266" r:id="R1e72578644a349fc"/>
    <p:sldId xmlns:r="http://schemas.openxmlformats.org/officeDocument/2006/relationships" id="267" r:id="Rce844edbdf294daa"/>
    <p:sldId xmlns:r="http://schemas.openxmlformats.org/officeDocument/2006/relationships" id="268" r:id="R6c87178fca3e427c"/>
    <p:sldId xmlns:r="http://schemas.openxmlformats.org/officeDocument/2006/relationships" id="269" r:id="Re0c5e88a379f46ac"/>
    <p:sldId xmlns:r="http://schemas.openxmlformats.org/officeDocument/2006/relationships" id="270" r:id="R3e36537000a34210"/>
    <p:sldId xmlns:r="http://schemas.openxmlformats.org/officeDocument/2006/relationships" id="271" r:id="Rb8c66aef44a841f3"/>
    <p:sldId xmlns:r="http://schemas.openxmlformats.org/officeDocument/2006/relationships" id="272" r:id="R414dda8fe6424d59"/>
    <p:sldId xmlns:r="http://schemas.openxmlformats.org/officeDocument/2006/relationships" id="273" r:id="Ra96a9a1ccd1342e5"/>
    <p:sldId xmlns:r="http://schemas.openxmlformats.org/officeDocument/2006/relationships" id="274" r:id="Rdd43905ce00e448c"/>
    <p:sldId xmlns:r="http://schemas.openxmlformats.org/officeDocument/2006/relationships" id="275" r:id="R117c1d90214e4ca5"/>
    <p:sldId xmlns:r="http://schemas.openxmlformats.org/officeDocument/2006/relationships" id="276" r:id="R9a45447dc89744f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ac813027de14a64" /><Relationship Type="http://schemas.openxmlformats.org/officeDocument/2006/relationships/slideMaster" Target="/ppt/slideMasters/slideMaster1.xml" Id="R9761b7ddaf0048e6" /><Relationship Type="http://schemas.openxmlformats.org/officeDocument/2006/relationships/notesMaster" Target="/ppt/notesMasters/notesMaster1.xml" Id="R521eb759bb8845d6" /><Relationship Type="http://schemas.openxmlformats.org/officeDocument/2006/relationships/presProps" Target="/ppt/presProps.xml" Id="R339706a1a46c4a77" /><Relationship Type="http://schemas.openxmlformats.org/officeDocument/2006/relationships/viewProps" Target="/ppt/viewProps.xml" Id="R53934f7102ed48a0" /><Relationship Type="http://schemas.openxmlformats.org/officeDocument/2006/relationships/tableStyles" Target="/ppt/tableStyles.xml" Id="R83f6f6ffdcd3434a" /><Relationship Type="http://schemas.openxmlformats.org/officeDocument/2006/relationships/slide" Target="/ppt/slides/slide1.xml" Id="R8557658ab76e4587" /><Relationship Type="http://schemas.openxmlformats.org/officeDocument/2006/relationships/slide" Target="/ppt/slides/slide2.xml" Id="Rfd9388af44394d7e" /><Relationship Type="http://schemas.openxmlformats.org/officeDocument/2006/relationships/slide" Target="/ppt/slides/slide3.xml" Id="R896cf3ee31ad4509" /><Relationship Type="http://schemas.openxmlformats.org/officeDocument/2006/relationships/slide" Target="/ppt/slides/slide4.xml" Id="R7e97442bf3404122" /><Relationship Type="http://schemas.openxmlformats.org/officeDocument/2006/relationships/slide" Target="/ppt/slides/slide5.xml" Id="R3f9c3611d0484c26" /><Relationship Type="http://schemas.openxmlformats.org/officeDocument/2006/relationships/slide" Target="/ppt/slides/slide6.xml" Id="R4afa504dc0a34147" /><Relationship Type="http://schemas.openxmlformats.org/officeDocument/2006/relationships/slide" Target="/ppt/slides/slide7.xml" Id="R7ac29c06a35b4690" /><Relationship Type="http://schemas.openxmlformats.org/officeDocument/2006/relationships/slide" Target="/ppt/slides/slide8.xml" Id="Rea531fac54ad4177" /><Relationship Type="http://schemas.openxmlformats.org/officeDocument/2006/relationships/slide" Target="/ppt/slides/slide9.xml" Id="R7f2414ac182d472c" /><Relationship Type="http://schemas.openxmlformats.org/officeDocument/2006/relationships/slide" Target="/ppt/slides/slide10.xml" Id="Re03fdf501e8f466c" /><Relationship Type="http://schemas.openxmlformats.org/officeDocument/2006/relationships/slide" Target="/ppt/slides/slide11.xml" Id="R1e72578644a349fc" /><Relationship Type="http://schemas.openxmlformats.org/officeDocument/2006/relationships/slide" Target="/ppt/slides/slide12.xml" Id="Rce844edbdf294daa" /><Relationship Type="http://schemas.openxmlformats.org/officeDocument/2006/relationships/slide" Target="/ppt/slides/slide13.xml" Id="R6c87178fca3e427c" /><Relationship Type="http://schemas.openxmlformats.org/officeDocument/2006/relationships/slide" Target="/ppt/slides/slide14.xml" Id="Re0c5e88a379f46ac" /><Relationship Type="http://schemas.openxmlformats.org/officeDocument/2006/relationships/slide" Target="/ppt/slides/slide15.xml" Id="R3e36537000a34210" /><Relationship Type="http://schemas.openxmlformats.org/officeDocument/2006/relationships/slide" Target="/ppt/slides/slide16.xml" Id="Rb8c66aef44a841f3" /><Relationship Type="http://schemas.openxmlformats.org/officeDocument/2006/relationships/slide" Target="/ppt/slides/slide17.xml" Id="R414dda8fe6424d59" /><Relationship Type="http://schemas.openxmlformats.org/officeDocument/2006/relationships/slide" Target="/ppt/slides/slide18.xml" Id="Ra96a9a1ccd1342e5" /><Relationship Type="http://schemas.openxmlformats.org/officeDocument/2006/relationships/slide" Target="/ppt/slides/slide19.xml" Id="Rdd43905ce00e448c" /><Relationship Type="http://schemas.openxmlformats.org/officeDocument/2006/relationships/slide" Target="/ppt/slides/slide20.xml" Id="R117c1d90214e4ca5" /><Relationship Type="http://schemas.openxmlformats.org/officeDocument/2006/relationships/slide" Target="/ppt/slides/slide21.xml" Id="R9a45447dc89744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651e6837dfc4a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a3a0cca4ee4e3e" /><Relationship Type="http://schemas.openxmlformats.org/officeDocument/2006/relationships/notesMaster" Target="/ppt/notesMasters/notesMaster1.xml" Id="R59fa92c697a043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4956441cd9411c" /><Relationship Type="http://schemas.openxmlformats.org/officeDocument/2006/relationships/notesMaster" Target="/ppt/notesMasters/notesMaster1.xml" Id="Rdea769c7d4b644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b10d95c0b44400" /><Relationship Type="http://schemas.openxmlformats.org/officeDocument/2006/relationships/notesMaster" Target="/ppt/notesMasters/notesMaster1.xml" Id="Rf69d1994090448f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df324171874150" /><Relationship Type="http://schemas.openxmlformats.org/officeDocument/2006/relationships/notesMaster" Target="/ppt/notesMasters/notesMaster1.xml" Id="R6942fcc4ecea48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6f2841bf7274a56" /><Relationship Type="http://schemas.openxmlformats.org/officeDocument/2006/relationships/notesMaster" Target="/ppt/notesMasters/notesMaster1.xml" Id="R23555b377a6f4f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05aeab11454941" /><Relationship Type="http://schemas.openxmlformats.org/officeDocument/2006/relationships/notesMaster" Target="/ppt/notesMasters/notesMaster1.xml" Id="R45eaa6abf6004b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01463332004dc3" /><Relationship Type="http://schemas.openxmlformats.org/officeDocument/2006/relationships/notesMaster" Target="/ppt/notesMasters/notesMaster1.xml" Id="R09f6ba226d7649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2dc828ca1341d6" /><Relationship Type="http://schemas.openxmlformats.org/officeDocument/2006/relationships/notesMaster" Target="/ppt/notesMasters/notesMaster1.xml" Id="R09c5440b3e034b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659f961e73419d" /><Relationship Type="http://schemas.openxmlformats.org/officeDocument/2006/relationships/notesMaster" Target="/ppt/notesMasters/notesMaster1.xml" Id="Rc23c1ebee40141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be80a1fba7e4252" /><Relationship Type="http://schemas.openxmlformats.org/officeDocument/2006/relationships/notesMaster" Target="/ppt/notesMasters/notesMaster1.xml" Id="Rf30f80f397a44e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acea14c76314141" /><Relationship Type="http://schemas.openxmlformats.org/officeDocument/2006/relationships/notesMaster" Target="/ppt/notesMasters/notesMaster1.xml" Id="R3f3d8163369e43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e1d6c28bbd54196" /><Relationship Type="http://schemas.openxmlformats.org/officeDocument/2006/relationships/notesMaster" Target="/ppt/notesMasters/notesMaster1.xml" Id="R314f14fba3f446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2b225db35d4f49" /><Relationship Type="http://schemas.openxmlformats.org/officeDocument/2006/relationships/notesMaster" Target="/ppt/notesMasters/notesMaster1.xml" Id="R77713c4f34fc4d8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6eb3bdcc7934b54" /><Relationship Type="http://schemas.openxmlformats.org/officeDocument/2006/relationships/notesMaster" Target="/ppt/notesMasters/notesMaster1.xml" Id="R153773fe9e2043b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1f965c701934feb" /><Relationship Type="http://schemas.openxmlformats.org/officeDocument/2006/relationships/notesMaster" Target="/ppt/notesMasters/notesMaster1.xml" Id="R515faebccbde40d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bc695cb59c7465f" /><Relationship Type="http://schemas.openxmlformats.org/officeDocument/2006/relationships/notesMaster" Target="/ppt/notesMasters/notesMaster1.xml" Id="R447f28604e0c454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e70b0f73ce4380" /><Relationship Type="http://schemas.openxmlformats.org/officeDocument/2006/relationships/notesMaster" Target="/ppt/notesMasters/notesMaster1.xml" Id="R0abe93ef7a93426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e2193b13de746e9" /><Relationship Type="http://schemas.openxmlformats.org/officeDocument/2006/relationships/notesMaster" Target="/ppt/notesMasters/notesMaster1.xml" Id="R3b6f5f9a99504fa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09a7a2dd754415" /><Relationship Type="http://schemas.openxmlformats.org/officeDocument/2006/relationships/notesMaster" Target="/ppt/notesMasters/notesMaster1.xml" Id="R2ed9e3d024ba41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864404e02e4e6d" /><Relationship Type="http://schemas.openxmlformats.org/officeDocument/2006/relationships/notesMaster" Target="/ppt/notesMasters/notesMaster1.xml" Id="R0be7b8d919ee4d9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31306bf610c434f" /><Relationship Type="http://schemas.openxmlformats.org/officeDocument/2006/relationships/notesMaster" Target="/ppt/notesMasters/notesMaster1.xml" Id="R8e09351ac4844e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Chào thầy/cô. Nhóm trình bày đồ án hệ thống phân loại email spam, xây dựng bằng Flask và scikit-learn. Em nêu tên thành viên rồi vào mục tiêu.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Giới thiệu từng thành viên và phần việc. Nếu nộp một mình thì nói rõ toàn bộ phần mềm, kiểm thử và tài liệu do một người thực hiện.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phạm vi MVP cho vừa đồ án: đủ dùng để demo prediction và train lại model, chưa làm hệ thống mail thật.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đúng stack trong requirements.txt. Nếu thầy hỏi Docker: docker compose up --build. Máy làm slide chạy venv + SQLite vì Docker engine chưa lên.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Hai vai trò nhưng chưa có login. Admin là trang operator. Prediction không train lại mỗi request.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 bảng đúng SRS. Chỉ một model is_active. Prediction không ghi ngược vào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Vẽ nhanh hai mũi tên train và predict trên bảng. Nhấn: preprocess thống nhất nên vector hóa không lệch.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Nhập live nếu còn thời gian. API lần đo: POST /api/predict trả SPAM, confidence 0.7373, version 20260913_013412_693318.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Nói thẳng metrics 66.7% vì tập test chỉ vài mẫu. Không lấy số 0.972 trong SRS. Thầy muốn cao hơn thì thêm dữ liệu rồi bấm Train lại.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Bốn trang: Phân loại, Lịch sử, Admin Dataset, Admin Model. Điều hướng trên header xanh đậm.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Chọn SPAM hoặc NOT_SPAM.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Nội dung đã có được sửa nhãn; nội dung mới được thêm.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 chủ động train lại.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và password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 tạo, khóa/mở, đổi vai trò và xóa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Bảo vệ Admin cuối cùng và tài khoản đang đăng nhập.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Tên hiển thị và email có thể cập nhật.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Đổi mật khẩu cần mật khẩu hiện tại; mật khẩu mới tối thiểu 8 ký tự.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Admin có nút import demo.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Nhận diện IP literal, domain người gửi và URL. Dữ liệu .test và TEST-NET chỉ dùng demo.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50.000 SPAM và 50.000 NOT_SPAM tổng hợp.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File CSV.gz 1,88 MB đi cùng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Nạp lặp bỏ qua trùng; dataset phân trang 50 dòng và tìm/lọc server.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Số liệu đọc từ DB local: 100338 dataset; 113 history gồm100 dòng seed;2 users;2 IP;2 domain;14 model metadata gồm1placeholder. Seed idempotent; không đặt lại mật khẩu tài khoản đã có.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Đã chạy lại compare_models trên338mẫu nền, loại @seed.local&gt;. Không gọi train, không thay modelactive. Metrics tất cả1; matrix labels [SPAM,NOT_SPAM].</a:t>
            </a:r>
          </a:p>
          <a:p xmlns:a="http://schemas.openxmlformats.org/drawingml/2006/main">
            <a:r>
              <a:t>Nguồn: mã nguồn và DB local spam_email ngày 26/09/2026. Ảnh từ bản preview mới, file gốc được giữ tên.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Đọc số liệu từ file JSON đã lưu khi gọi API, không bịa. Nhấn đã có e2e train–predict–history trong pytest.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Thừa nhận hạn chế trước khi kết luận. Các hướng phát triển lấy từ mục sau MVP của SRS.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Tóm tắt 20 giây rồi chuyển Q&amp;A. Nhắc file nộp nằm trong thư mục NOP.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Dừng lại nhận câu hỏi. Gợi ý trả lời: chạy bằng python run.py hoặc docker compose; model là MultinomialNB; metrics thấp vì dataset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b5e5c7f2e3461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62b2f56fec423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2bd70ec55f436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985f98ffbd4a9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96b082d5004d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e2e652a6a400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a67e1724c3441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587e4cd86436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6417c3c67412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4d5e2357b24ed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5a4810b5e425b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44C4FC-BB05-4C93-B938-35487117736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3C4A959-FBD1-46E3-A263-DFEB612957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6D6EFC-AE91-42E6-ACA5-8125E3B76D0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D05C051-3414-49E8-92F0-82A80ECEE16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BDD653B-A4FF-411F-B988-B691BDFDF9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A54B6D8-622C-4B3F-A973-8E65075320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5B8FAE5-29C4-46F9-8213-9B84DE8B78A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FDBED54-BDB0-4FE8-8411-CFB56BED70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2EF6254-55BC-4CB5-946B-127D94A244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B8044A5-F5D8-4574-B3E8-0FBAEEBF3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75E8071-9F9E-438B-871D-8733DF6335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9626C30-6C7E-4155-8874-337A6612E2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7CED0E-5B87-4125-9EFA-C3BE46ACE1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5CD89F-2F49-40BB-86E2-E4662A4BD57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DC7C0D1-9770-4E43-AB6F-BCA3438242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0DA59EF-8898-46BE-8FC3-517A735C94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80F72F9-32E1-4EB4-BBAF-098F3EA317C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BAA26E2-8918-4689-B80D-1705AF5852B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E5C2EF2-E5B6-4B45-868D-80C4E02498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3A0BC12-E037-461F-B4E9-5E26456C1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9A818A7-5F38-4B05-A6AA-1FB21B98D7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837F0D-DC5D-4244-8948-3A91DC4469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910506B-B44C-4D0C-BAA9-5A476A88FE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FA6BAE-E339-41C2-9537-2C4A0CB6DAE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127860F3-4B0C-41C2-B93D-4554A8ED445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6103978-149D-420B-B798-F60332C19E3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6778F7D-57EB-401A-B520-BEA0A29C3D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9648B05E-2267-4682-8B28-DC1C18D0B6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18AB9E2-C977-46D3-BA78-2F606B6FBE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78A8B0-D461-49DE-96F1-8B46F06E0C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13F337A-DAB2-4634-AC90-CEBBBA6999C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608622B-ADC5-47BF-BE9C-923382A28C5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9234996-E728-459A-A65D-79E4B187C4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4C2A32E-B903-43A9-A2C8-F742E622D1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5C5834C6-4B8B-4F54-BF76-CEB24E600E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FBFD0F3-680B-4698-B8C2-1AA53965FB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FEB2D7-B703-4369-A718-B867B9D70B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71D4DE-2213-4839-B944-0D49EA0F336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C6E6A80-B4B6-4BEF-A23A-18B1AFFEB0D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F4B2CCD-B476-4915-917E-B076A984BC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0D72C92-44AB-4260-A305-7A30E1B292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AB8CAEA-7FE0-4379-B3DF-5130D66EA2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8D60CAD-98D8-417A-86A0-9A6216B8F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6B767B5-3D66-4201-B04D-A8A9768D4E7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08613E4-C095-4128-B717-0A591FDA92C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E0B478F-AC7D-4E4A-BC39-32941F113A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D08AFC-E924-49B9-AA96-F2B9A636D4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88ABFB5-0979-4D5E-A7A3-374E63D090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AADD069-64DD-467C-A1F1-94594C9841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1E75D3-4252-4F68-9CCE-76915EF8FC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BAABBF4-CFF0-4D3A-A8B3-7015710826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B007170-48BC-40A9-8D99-4BCB1B8DB2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DE91FB-4627-440B-A1DB-C7D6F23ED9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AD8CE41C-2B9F-40B9-83F7-E46487E2DA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453381-0944-4C8E-99E6-9A24DC26A5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C95B1F4-CE62-4BC0-A48B-246C3EDB265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2045B9-A194-4B94-AB45-F74E86722E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0D94F22-BF4A-4384-87EA-73D0FFED7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9ed96bc564dee" /><Relationship Type="http://schemas.openxmlformats.org/officeDocument/2006/relationships/slideLayout" Target="/ppt/slideLayouts/slideLayout1.xml" Id="R150b259c4828406b" /><Relationship Type="http://schemas.openxmlformats.org/officeDocument/2006/relationships/slideLayout" Target="/ppt/slideLayouts/slideLayout2.xml" Id="Rbbf01f538e8e46a3" /><Relationship Type="http://schemas.openxmlformats.org/officeDocument/2006/relationships/slideLayout" Target="/ppt/slideLayouts/slideLayout3.xml" Id="R5e31f853b5814438" /><Relationship Type="http://schemas.openxmlformats.org/officeDocument/2006/relationships/slideLayout" Target="/ppt/slideLayouts/slideLayout4.xml" Id="R6554749181af4909" /><Relationship Type="http://schemas.openxmlformats.org/officeDocument/2006/relationships/slideLayout" Target="/ppt/slideLayouts/slideLayout5.xml" Id="R2b01d771160e49ca" /><Relationship Type="http://schemas.openxmlformats.org/officeDocument/2006/relationships/slideLayout" Target="/ppt/slideLayouts/slideLayout6.xml" Id="R18b735b507cf46a7" /><Relationship Type="http://schemas.openxmlformats.org/officeDocument/2006/relationships/slideLayout" Target="/ppt/slideLayouts/slideLayout7.xml" Id="R1431bf4b1c4e4c62" /><Relationship Type="http://schemas.openxmlformats.org/officeDocument/2006/relationships/slideLayout" Target="/ppt/slideLayouts/slideLayout8.xml" Id="Ra4b36833941d47aa" /><Relationship Type="http://schemas.openxmlformats.org/officeDocument/2006/relationships/slideLayout" Target="/ppt/slideLayouts/slideLayout9.xml" Id="R038d2901858b481f" /><Relationship Type="http://schemas.openxmlformats.org/officeDocument/2006/relationships/slideLayout" Target="/ppt/slideLayouts/slideLayout10.xml" Id="Rac65cbb8f317416b" /><Relationship Type="http://schemas.openxmlformats.org/officeDocument/2006/relationships/slideLayout" Target="/ppt/slideLayouts/slideLayout11.xml" Id="Rc2b6da3981084c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3C83A2F2-894E-4B38-AC4D-5A1EA6CD8E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DBC4E81-0D82-4080-96ED-F3B72CAB61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0E341EC-D9BB-40C6-A117-05258FF252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E04D19-AB49-4B0B-989B-BEE5C630F42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26B16A-60C4-4739-A74B-4032788365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0b259c4828406b"/>
    <p:sldLayoutId xmlns:r="http://schemas.openxmlformats.org/officeDocument/2006/relationships" id="2147483650" r:id="Rbbf01f538e8e46a3"/>
    <p:sldLayoutId xmlns:r="http://schemas.openxmlformats.org/officeDocument/2006/relationships" id="2147483651" r:id="R5e31f853b5814438"/>
    <p:sldLayoutId xmlns:r="http://schemas.openxmlformats.org/officeDocument/2006/relationships" id="2147483652" r:id="R6554749181af4909"/>
    <p:sldLayoutId xmlns:r="http://schemas.openxmlformats.org/officeDocument/2006/relationships" id="2147483653" r:id="R2b01d771160e49ca"/>
    <p:sldLayoutId xmlns:r="http://schemas.openxmlformats.org/officeDocument/2006/relationships" id="2147483654" r:id="R18b735b507cf46a7"/>
    <p:sldLayoutId xmlns:r="http://schemas.openxmlformats.org/officeDocument/2006/relationships" id="2147483655" r:id="R1431bf4b1c4e4c62"/>
    <p:sldLayoutId xmlns:r="http://schemas.openxmlformats.org/officeDocument/2006/relationships" id="2147483656" r:id="Ra4b36833941d47aa"/>
    <p:sldLayoutId xmlns:r="http://schemas.openxmlformats.org/officeDocument/2006/relationships" id="2147483657" r:id="R038d2901858b481f"/>
    <p:sldLayoutId xmlns:r="http://schemas.openxmlformats.org/officeDocument/2006/relationships" id="2147483658" r:id="Rac65cbb8f317416b"/>
    <p:sldLayoutId xmlns:r="http://schemas.openxmlformats.org/officeDocument/2006/relationships" id="2147483659" r:id="Rc2b6da3981084c6d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ab352723c341bf" /><Relationship Type="http://schemas.openxmlformats.org/officeDocument/2006/relationships/notesSlide" Target="/ppt/notesSlides/notesSlide1.xml" Id="Rbce220bc90b441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762b4ee15ed48e9" /><Relationship Type="http://schemas.openxmlformats.org/officeDocument/2006/relationships/notesSlide" Target="/ppt/notesSlides/notesSlide2.xml" Id="Rea1ddf8fb7a9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111c27428e41bd" /><Relationship Type="http://schemas.openxmlformats.org/officeDocument/2006/relationships/notesSlide" Target="/ppt/notesSlides/notesSlide3.xml" Id="Rfe92f77e4ab84f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02b3ee44294d03" /><Relationship Type="http://schemas.openxmlformats.org/officeDocument/2006/relationships/notesSlide" Target="/ppt/notesSlides/notesSlide4.xml" Id="Rf54db132885f419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62d41554eb47da" /><Relationship Type="http://schemas.openxmlformats.org/officeDocument/2006/relationships/notesSlide" Target="/ppt/notesSlides/notesSlide5.xml" Id="R54a48fa509444c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7fcab77c2c49ec" /><Relationship Type="http://schemas.openxmlformats.org/officeDocument/2006/relationships/notesSlide" Target="/ppt/notesSlides/notesSlide6.xml" Id="R625146c6c1bc44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95e175652054220" /><Relationship Type="http://schemas.openxmlformats.org/officeDocument/2006/relationships/notesSlide" Target="/ppt/notesSlides/notesSlide7.xml" Id="R5569ade03c0a45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9b2342cff314fe0" /><Relationship Type="http://schemas.openxmlformats.org/officeDocument/2006/relationships/image" Target="/ppt/media/image.png" Id="R05dc61247e00457e" /><Relationship Type="http://schemas.openxmlformats.org/officeDocument/2006/relationships/image" Target="/ppt/media/image2.png" Id="R4a3467b7ae794e34" /><Relationship Type="http://schemas.openxmlformats.org/officeDocument/2006/relationships/notesSlide" Target="/ppt/notesSlides/notesSlide8.xml" Id="R33cbadea8e2049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233e5538cf54bb7" /><Relationship Type="http://schemas.openxmlformats.org/officeDocument/2006/relationships/image" Target="/ppt/media/image3.png" Id="Rb514145fc9ab4c3b" /><Relationship Type="http://schemas.openxmlformats.org/officeDocument/2006/relationships/image" Target="/ppt/media/image4.png" Id="R57d4cbd7c5144423" /><Relationship Type="http://schemas.openxmlformats.org/officeDocument/2006/relationships/notesSlide" Target="/ppt/notesSlides/notesSlide9.xml" Id="R43639249cd9e41f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b740722d624b7d" /><Relationship Type="http://schemas.openxmlformats.org/officeDocument/2006/relationships/image" Target="/ppt/media/image5.png" Id="Rceb9e05871394660" /><Relationship Type="http://schemas.openxmlformats.org/officeDocument/2006/relationships/image" Target="/ppt/media/image6.png" Id="Rac87cd6d5c1144fe" /><Relationship Type="http://schemas.openxmlformats.org/officeDocument/2006/relationships/notesSlide" Target="/ppt/notesSlides/notesSlide10.xml" Id="R8df809a8929f43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9ff3110412483b" /><Relationship Type="http://schemas.openxmlformats.org/officeDocument/2006/relationships/image" Target="/ppt/media/image7.png" Id="R6a5096c508234603" /><Relationship Type="http://schemas.openxmlformats.org/officeDocument/2006/relationships/notesSlide" Target="/ppt/notesSlides/notesSlide11.xml" Id="Rc620f2cf915743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e7d8ecc9eb471d" /><Relationship Type="http://schemas.openxmlformats.org/officeDocument/2006/relationships/image" Target="/ppt/media/image8.png" Id="R88791f4132d444fd" /><Relationship Type="http://schemas.openxmlformats.org/officeDocument/2006/relationships/notesSlide" Target="/ppt/notesSlides/notesSlide12.xml" Id="Rbf4c874d24fd44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a209327aa843f2" /><Relationship Type="http://schemas.openxmlformats.org/officeDocument/2006/relationships/image" Target="/ppt/media/image9.png" Id="R98f67431cbf24023" /><Relationship Type="http://schemas.openxmlformats.org/officeDocument/2006/relationships/notesSlide" Target="/ppt/notesSlides/notesSlide13.xml" Id="R97e037452394499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09868cd02574978" /><Relationship Type="http://schemas.openxmlformats.org/officeDocument/2006/relationships/image" Target="/ppt/media/image10.png" Id="Re08b7a09cd954647" /><Relationship Type="http://schemas.openxmlformats.org/officeDocument/2006/relationships/image" Target="/ppt/media/image11.png" Id="Rb94e592277074fee" /><Relationship Type="http://schemas.openxmlformats.org/officeDocument/2006/relationships/notesSlide" Target="/ppt/notesSlides/notesSlide14.xml" Id="R92cdb6ec16eb4a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8e4baa9a0ca4902" /><Relationship Type="http://schemas.openxmlformats.org/officeDocument/2006/relationships/image" Target="/ppt/media/image12.png" Id="R94be76dd1d1d40fc" /><Relationship Type="http://schemas.openxmlformats.org/officeDocument/2006/relationships/notesSlide" Target="/ppt/notesSlides/notesSlide15.xml" Id="R5777517d08884c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f10124542c149cb" /><Relationship Type="http://schemas.openxmlformats.org/officeDocument/2006/relationships/notesSlide" Target="/ppt/notesSlides/notesSlide16.xml" Id="R31241ecc9f1a437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fe0b01d4d264c76" /><Relationship Type="http://schemas.openxmlformats.org/officeDocument/2006/relationships/notesSlide" Target="/ppt/notesSlides/notesSlide17.xml" Id="Rc489aad5d3d94f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281ff0db56488a" /><Relationship Type="http://schemas.openxmlformats.org/officeDocument/2006/relationships/notesSlide" Target="/ppt/notesSlides/notesSlide18.xml" Id="Ra817e2ad40f6417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1111cd2e2594abd" /><Relationship Type="http://schemas.openxmlformats.org/officeDocument/2006/relationships/notesSlide" Target="/ppt/notesSlides/notesSlide19.xml" Id="R3f9d067c66e246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df91d68a3a24505" /><Relationship Type="http://schemas.openxmlformats.org/officeDocument/2006/relationships/notesSlide" Target="/ppt/notesSlides/notesSlide20.xml" Id="Rdc445d4450f54ef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460a1b918be4ed6" /><Relationship Type="http://schemas.openxmlformats.org/officeDocument/2006/relationships/notesSlide" Target="/ppt/notesSlides/notesSlide21.xml" Id="R5087bfc2971a4ef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7901836-15E8-438C-942D-27F32D61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3FCDA29-5AF1-4CF4-899F-C95CDD84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68FB384-004D-4B1D-90BB-2FC360B0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9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ĐẠI HỌC QUỐC GIA TP. HỒ CHÍ MINH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B021A31-9A24-4883-9E9E-53B4BD78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13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TRƯỜNG ĐẠI HỌC CÔNG NGHỆ THÔNG TIN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9E0B1A-713A-4624-BCFF-31EEE9B1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2400000"/>
            <a:ext cx="11000000" cy="1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3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HỆ THỐNG PHÂN LOẠI EMAIL SPAM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Email Spam Classification  •  Flask + scikit-learn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0AF246-6759-4F6C-AD4E-8ED3B02BD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4800000"/>
            <a:ext cx="110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875"/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Nhóm 16, lớp IE221.F33.LT.CNTT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875"/>
            </a:pPr>
            <a:r>
              <a:rPr sz="18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Bản cập nhật chức năng ngày 26/09/2026</a:t>
            </a:r>
          </a:p>
        </p:txBody>
      </p:sp>
    </p:spTree>
    <p:extLst>
      <p:ext uri="{BB962C8B-B14F-4D97-AF65-F5344CB8AC3E}">
        <p14:creationId xmlns:p14="http://schemas.microsoft.com/office/powerpoint/2010/main" val="66334034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96D6569-AD51-49D1-817D-1124F1DB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929349-B267-49CF-B95C-6EF9B14E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E671337-A61D-43AC-973A-D2970FD1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FF2884-39D3-4D15-AE74-4CEA8B7C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Thành viên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CA12A7B-FA6A-4787-8527-7A0BA725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400000"/>
            <a:ext cx="10500000" cy="4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Trình Minh Thắng       25410132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Nguyễn Phong Phú      25410283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Võ Trịnh Nhật Minh    25410258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Nguyễn Minh Phúc      25410285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Nguyễn Lê Thành Đạt  25410029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Nhóm 16, lớp IE221.F33.LT.CNTT</a:t>
            </a:r>
          </a:p>
        </p:txBody>
      </p:sp>
    </p:spTree>
    <p:extLst>
      <p:ext uri="{BB962C8B-B14F-4D97-AF65-F5344CB8AC3E}">
        <p14:creationId xmlns:p14="http://schemas.microsoft.com/office/powerpoint/2010/main" val="9825933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Giới thiệu và mục tiêu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Web phân loại SPAM / NOT_SPAM cho nội dung tiếng Việt và tiếng Anh.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Phạm vi hiện có: lịch sử, feedback, dataset, train/compare, tài khoản/role, hồ sơ/mật khẩu, IP/domain và seed toàn hệ thống.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Chưa kết nối Gmail/Outlook hoặc retrain tự động.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3D4778A-09CD-4370-B563-1CC2B16F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3EF1233-51A2-43A5-BACD-EF2402911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FCC7C03-1F54-4717-B42D-7B68F8F6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6838233-28C6-4E17-85BC-870CA61B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Công nghệ đã dùng trong repo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653B98F-FB72-4464-9CC1-8FB77175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Python 3.11, Flask, SQLAlchemy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TF-IDF + MultinomialNB; LogisticRegression để so sánh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PostgreSQL 16 trong Docker hoặc SQLite demo local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Bootstrap 4.6, HTML/CSS/JavaScript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Kiểm thử tự động: 34 passed</a:t>
            </a:r>
          </a:p>
        </p:txBody>
      </p:sp>
    </p:spTree>
    <p:extLst>
      <p:ext uri="{BB962C8B-B14F-4D97-AF65-F5344CB8AC3E}">
        <p14:creationId xmlns:p14="http://schemas.microsoft.com/office/powerpoint/2010/main" val="1146836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D4CB95B-E328-41A6-B5F3-0EC6C72F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6B11B82-9B64-4127-81AC-CB2AB346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99CE363-51E2-47D8-BD0C-CD6C2A501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3289EFF-55FD-479D-9744-F968A419B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Chức năng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58702B-FA5A-4E7F-8B06-92CFE0E9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1300000"/>
            <a:ext cx="5200000" cy="4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Khách và Analyst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Khách phân loại email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Analyst xem/xóa lịch sử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Gửi nhãn đúng để cập nhật dataset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Sửa hồ sơ và đổi mật khẩu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7C6C88D-6BCC-4BAC-8617-1127FE47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000" y="1300000"/>
            <a:ext cx="5200000" cy="4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1">
                <a:solidFill>
                  <a:srgbClr val="2563EB"/>
                </a:solidFill>
                <a:latin typeface="Calibri"/>
                <a:ea typeface="Calibri"/>
                <a:cs typeface="Calibri"/>
              </a:rPr>
              <a:t>Admin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CRUD dataset và tài khoản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Train, so sánh hai model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Quản lý IP/domain blocklist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Nạp bộ demo cho sáu bảng</a:t>
            </a:r>
          </a:p>
        </p:txBody>
      </p:sp>
    </p:spTree>
    <p:extLst>
      <p:ext uri="{BB962C8B-B14F-4D97-AF65-F5344CB8AC3E}">
        <p14:creationId xmlns:p14="http://schemas.microsoft.com/office/powerpoint/2010/main" val="17637222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A513-47D0-44A4-A2BA-3C7D66F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2CD5365-978F-476E-87B0-81E7BAB21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BEF0A4-B202-4B86-951C-AD03E92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508EA8B-E71F-4256-9B5C-0504AA1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Thiết kế dữ liệu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4612C50-AF81-4A5D-A6DF-7C0A8A68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2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email_dataset: nội dung và nhãn huấn luyện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email_classification: kết quả, confidence, phiên bản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model_information: metrics, version, trạng thái active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app_user: tài khoản, vai trò, hồ sơ, password hash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blocked_ip và blocked_domain: danh sách chặn nội bộ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Joblib lưu ở saved_models; DB lưu metadata.</a:t>
            </a:r>
          </a:p>
        </p:txBody>
      </p:sp>
    </p:spTree>
    <p:extLst>
      <p:ext uri="{BB962C8B-B14F-4D97-AF65-F5344CB8AC3E}">
        <p14:creationId xmlns:p14="http://schemas.microsoft.com/office/powerpoint/2010/main" val="192294994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560C75-8DBD-4078-9786-BF381A2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A4B9127-6E7F-4047-953A-7951FAC8E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BCA90E-F60F-413E-BB7C-238E79B2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F8EFC7-F298-4FC0-914E-D059FC11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Kiến trúc và hai luồng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5EF162F-6814-4529-92DF-4B97850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200000"/>
            <a:ext cx="10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Giao diện Bootstrap 4 gọi Flask REST API; session kiểm tra vai trò.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8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Predict dùng preprocessing Unicode và model active, rồi lưu lịch sử.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Train chia stratified 80/20, fit TF-IDF trên train và lưu NB theo phiên bản.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Compare đánh giá NB/LR trên cùng tập, không thay model active.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Feedback cập nhật dataset; Admin quyết định train lại.</a:t>
            </a:r>
          </a:p>
        </p:txBody>
      </p:sp>
    </p:spTree>
    <p:extLst>
      <p:ext uri="{BB962C8B-B14F-4D97-AF65-F5344CB8AC3E}">
        <p14:creationId xmlns:p14="http://schemas.microsoft.com/office/powerpoint/2010/main" val="189648359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52A7601-9329-42D1-A37A-469185A5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3DD40A0-79FB-4E8B-9002-B0B70E90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AC45E6-0C2E-418C-B6C2-CEA7973F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04E0F25-C34E-4902-9464-F2B02255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Demo 1 — Phân loại email</a:t>
            </a: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c61247e00457e"/>
          <a:stretch xmlns:a="http://schemas.openxmlformats.org/drawingml/2006/main"/>
        </p:blipFill>
        <p:spPr>
          <a:xfrm xmlns:a="http://schemas.openxmlformats.org/drawingml/2006/main">
            <a:off x="630000" y="1100000"/>
            <a:ext cx="5040000" cy="3150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467b7ae794e34"/>
          <a:stretch xmlns:a="http://schemas.openxmlformats.org/drawingml/2006/main"/>
        </p:blipFill>
        <p:spPr>
          <a:xfrm xmlns:a="http://schemas.openxmlformats.org/drawingml/2006/main">
            <a:off x="6480000" y="1100000"/>
            <a:ext cx="5040000" cy="3150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8F7F00C-DA3D-4678-A52F-FC7E2025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0" y="62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425"/>
            </a:pPr>
            <a:r>
              <a:rPr sz="1425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Ảnh của lượt demo nền. Preprocessing giữ dấu tiếng Việt và dùng chung cho train/predict.</a:t>
            </a:r>
          </a:p>
        </p:txBody>
      </p:sp>
    </p:spTree>
    <p:extLst>
      <p:ext uri="{BB962C8B-B14F-4D97-AF65-F5344CB8AC3E}">
        <p14:creationId xmlns:p14="http://schemas.microsoft.com/office/powerpoint/2010/main" val="1087810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9FDFE70-E35F-401F-AB6D-4BB3E050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F1C1AF-44BA-4ADB-BAB9-53F6B7373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F3CB42F-E69C-4EDB-B6A3-07F1F5C7D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914BBD4-E8F4-47AC-B775-5ED826E6B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Demo 2 — Dataset và train model</a:t>
            </a: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14145fc9ab4c3b"/>
          <a:stretch xmlns:a="http://schemas.openxmlformats.org/drawingml/2006/main"/>
        </p:blipFill>
        <p:spPr>
          <a:xfrm xmlns:a="http://schemas.openxmlformats.org/drawingml/2006/main">
            <a:off x="787500" y="1100000"/>
            <a:ext cx="4725000" cy="3150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d4cbd7c5144423"/>
          <a:stretch xmlns:a="http://schemas.openxmlformats.org/drawingml/2006/main"/>
        </p:blipFill>
        <p:spPr>
          <a:xfrm xmlns:a="http://schemas.openxmlformats.org/drawingml/2006/main">
            <a:off x="6637500" y="1100000"/>
            <a:ext cx="4725000" cy="3150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81DCF90-12E6-4C75-899A-D3D50DA3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0" y="62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350"/>
            </a:pPr>
            <a:r>
              <a:rPr sz="135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Dataset hiện có 100.338 mẫu. Model active 20260926_231838_542289. Không suy diễn metrics thành đánh giá toàn bộ seed 100k.</a:t>
            </a:r>
          </a:p>
        </p:txBody>
      </p:sp>
    </p:spTree>
    <p:extLst>
      <p:ext uri="{BB962C8B-B14F-4D97-AF65-F5344CB8AC3E}">
        <p14:creationId xmlns:p14="http://schemas.microsoft.com/office/powerpoint/2010/main" val="184004997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F9C380C-6AD8-4405-B38E-78A70C153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C3D2D53-B78C-44D2-B2F7-7BBE168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7558E3C-BFA2-47BC-B5B6-09E8E632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607D032-87FC-49E8-93F6-5F61B554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Giao diện tổng quan</a:t>
            </a:r>
          </a:p>
        </p:txBody>
      </p:sp>
      <p:pic>
        <p:nvPicPr>
          <p:cNvPr id="1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9e05871394660"/>
          <a:stretch xmlns:a="http://schemas.openxmlformats.org/drawingml/2006/main"/>
        </p:blipFill>
        <p:spPr>
          <a:xfrm xmlns:a="http://schemas.openxmlformats.org/drawingml/2006/main">
            <a:off x="787500" y="1100000"/>
            <a:ext cx="4725000" cy="3150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87cd6d5c1144fe"/>
          <a:stretch xmlns:a="http://schemas.openxmlformats.org/drawingml/2006/main"/>
        </p:blipFill>
        <p:spPr>
          <a:xfrm xmlns:a="http://schemas.openxmlformats.org/drawingml/2006/main">
            <a:off x="6637500" y="1100000"/>
            <a:ext cx="4725000" cy="3150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23E350-6681-4312-A4EB-036CC6A4D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00" y="6200000"/>
            <a:ext cx="110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425"/>
            </a:pPr>
            <a:r>
              <a:rPr sz="1425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Có đăng nhập theo vai trò. Lịch sử có 113 dòng, trong đó 100 dòng [DEMO SEED] dùng để trình diễn.</a:t>
            </a:r>
          </a:p>
        </p:txBody>
      </p:sp>
    </p:spTree>
    <p:extLst>
      <p:ext uri="{BB962C8B-B14F-4D97-AF65-F5344CB8AC3E}">
        <p14:creationId xmlns:p14="http://schemas.microsoft.com/office/powerpoint/2010/main" val="4750041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Phản hồi nhãn trong lịch sử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5096c508234603"/>
          <a:stretch xmlns:a="http://schemas.openxmlformats.org/drawingml/2006/main"/>
        </p:blipFill>
        <p:spPr>
          <a:xfrm xmlns:a="http://schemas.openxmlformats.org/drawingml/2006/main">
            <a:off x="1744155" y="1460500"/>
            <a:ext cx="4512690" cy="4445000"/>
          </a:xfrm>
          <a:prstGeom xmlns:a="http://schemas.openxmlformats.org/drawingml/2006/main" prst="rect">
            <a:avLst/>
          </a:prstGeom>
        </p:spPr>
      </p:pic>
      <p:sp>
        <p:nvSpPr>
          <p:cNvPr id="8" name="updated-Chọn SPAM hoặc NOT_SPAM.&#10;">
            <a:extLst xmlns:a="http://schemas.openxmlformats.org/drawingml/2006/main">
              <a:ext uri="{FF2B5EF4-FFF2-40B4-BE49-F238E27FC236}">
                <a16:creationId xmlns:a16="http://schemas.microsoft.com/office/drawing/2014/main" id="{DE6F937E-849A-4ED4-AAC8-911244E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87500"/>
            <a:ext cx="3746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Chọn SPAM hoặc NOT_SPAM.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Nội dung đã có được sửa nhãn; nội dung mới được thêm.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Admin chủ động train lại.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Đăng nhập và quản lý tài khoản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91f4132d444fd"/>
          <a:stretch xmlns:a="http://schemas.openxmlformats.org/drawingml/2006/main"/>
        </p:blipFill>
        <p:spPr>
          <a:xfrm xmlns:a="http://schemas.openxmlformats.org/drawingml/2006/main">
            <a:off x="666750" y="1460500"/>
            <a:ext cx="6667500" cy="4445000"/>
          </a:xfrm>
          <a:prstGeom xmlns:a="http://schemas.openxmlformats.org/drawingml/2006/main" prst="rect">
            <a:avLst/>
          </a:prstGeom>
        </p:spPr>
      </p:pic>
      <p:sp>
        <p:nvSpPr>
          <p:cNvPr id="8" name="updated-Session và password hash.">
            <a:extLst xmlns:a="http://schemas.openxmlformats.org/drawingml/2006/main">
              <a:ext uri="{FF2B5EF4-FFF2-40B4-BE49-F238E27FC236}">
                <a16:creationId xmlns:a16="http://schemas.microsoft.com/office/drawing/2014/main" id="{D8B8B4F0-636B-4BA9-B312-62C7E086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87500"/>
            <a:ext cx="3746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Session và password hash.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Admin tạo, khóa/mở, đổi vai trò và xóa tài khoản.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Bảo vệ Admin cuối cùng và tài khoản đang đăng nhập.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Thiết lập hồ sơ và mật khẩu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67431cbf24023"/>
          <a:stretch xmlns:a="http://schemas.openxmlformats.org/drawingml/2006/main"/>
        </p:blipFill>
        <p:spPr>
          <a:xfrm xmlns:a="http://schemas.openxmlformats.org/drawingml/2006/main">
            <a:off x="666750" y="1460500"/>
            <a:ext cx="6667500" cy="4445000"/>
          </a:xfrm>
          <a:prstGeom xmlns:a="http://schemas.openxmlformats.org/drawingml/2006/main" prst="rect">
            <a:avLst/>
          </a:prstGeom>
        </p:spPr>
      </p:pic>
      <p:sp>
        <p:nvSpPr>
          <p:cNvPr id="8" name="updated-Tên hiển thị và email có ">
            <a:extLst xmlns:a="http://schemas.openxmlformats.org/drawingml/2006/main">
              <a:ext uri="{FF2B5EF4-FFF2-40B4-BE49-F238E27FC236}">
                <a16:creationId xmlns:a16="http://schemas.microsoft.com/office/drawing/2014/main" id="{43A246D0-5C93-403A-84E9-695E4B94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87500"/>
            <a:ext cx="3746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Tên hiển thị và email có thể cập nhật.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Đổi mật khẩu cần mật khẩu hiện tại; mật khẩu mới tối thiểu 8 ký tự.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Admin có nút import demo.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Kiểm tra và quản lý IP domain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b7a09cd954647"/>
          <a:stretch xmlns:a="http://schemas.openxmlformats.org/drawingml/2006/main"/>
        </p:blipFill>
        <p:spPr>
          <a:xfrm xmlns:a="http://schemas.openxmlformats.org/drawingml/2006/main">
            <a:off x="508000" y="1774491"/>
            <a:ext cx="6794500" cy="3131219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e592277074fee"/>
          <a:stretch xmlns:a="http://schemas.openxmlformats.org/drawingml/2006/main"/>
        </p:blipFill>
        <p:spPr>
          <a:xfrm xmlns:a="http://schemas.openxmlformats.org/drawingml/2006/main">
            <a:off x="7620000" y="2194442"/>
            <a:ext cx="4064000" cy="1338815"/>
          </a:xfrm>
          <a:prstGeom xmlns:a="http://schemas.openxmlformats.org/drawingml/2006/main" prst="rect">
            <a:avLst/>
          </a:prstGeom>
        </p:spPr>
      </p:pic>
      <p:sp>
        <p:nvSpPr>
          <p:cNvPr id="9" name="updated-CRUD IP và domain độc lập">
            <a:extLst xmlns:a="http://schemas.openxmlformats.org/drawingml/2006/main">
              <a:ext uri="{FF2B5EF4-FFF2-40B4-BE49-F238E27FC236}">
                <a16:creationId xmlns:a16="http://schemas.microsoft.com/office/drawing/2014/main" id="{3D41A125-A405-4E64-A10F-F4A1B49D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524500"/>
            <a:ext cx="10922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CRUD IP và domain độc lập. So khớp domain chính xác, không tự gồm domain con.</a:t>
            </a:r>
          </a:p>
          <a:p xmlns:a="http://schemas.openxmlformats.org/drawingml/2006/main">
            <a:pPr>
              <a:defRPr sz="18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Chưa DNS/reputation hay chặn thư tại mail server.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Bộ seed 100 nghìn email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e76dd1d1d40fc"/>
          <a:stretch xmlns:a="http://schemas.openxmlformats.org/drawingml/2006/main"/>
        </p:blipFill>
        <p:spPr>
          <a:xfrm xmlns:a="http://schemas.openxmlformats.org/drawingml/2006/main">
            <a:off x="666750" y="1460500"/>
            <a:ext cx="6667500" cy="4445000"/>
          </a:xfrm>
          <a:prstGeom xmlns:a="http://schemas.openxmlformats.org/drawingml/2006/main" prst="rect">
            <a:avLst/>
          </a:prstGeom>
        </p:spPr>
      </p:pic>
      <p:sp>
        <p:nvSpPr>
          <p:cNvPr id="8" name="updated-50.000 SPAM và 50.000 NOT">
            <a:extLst xmlns:a="http://schemas.openxmlformats.org/drawingml/2006/main">
              <a:ext uri="{FF2B5EF4-FFF2-40B4-BE49-F238E27FC236}">
                <a16:creationId xmlns:a16="http://schemas.microsoft.com/office/drawing/2014/main" id="{2C28B98F-11EC-4EBD-940F-7B362C773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87500"/>
            <a:ext cx="37465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50.000 SPAM và 50.000 NOT_SPAM tổng hợp.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File CSV.gz 1,88 MB đi cùng project.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9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Nạp lặp bỏ qua trùng; dataset phân trang 50 dòng và tìm/lọc server.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Dữ liệu demo cho sáu bảng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35000" y="1460500"/>
          <a:ext xmlns:a="http://schemas.openxmlformats.org/drawingml/2006/main" cx="10922000" cy="3683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92500"/>
                <a:gridCol w="1778000"/>
                <a:gridCol w="5651500"/>
              </a:tblGrid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Bảng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Dòng hiện có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Dữ liệu demo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</a:tr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email_dataset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100.338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50.169 mẫu mỗi nhãn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email_classification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100 dòng [DEMO SEED]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app_user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Admin và analyst demo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blocked_ip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IP TEST-NET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blocked_domain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Domain .test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26143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model_information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 placeholder không active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updated-Thiết lập &gt; Nhập data cho">
            <a:extLst xmlns:a="http://schemas.openxmlformats.org/drawingml/2006/main">
              <a:ext uri="{FF2B5EF4-FFF2-40B4-BE49-F238E27FC236}">
                <a16:creationId xmlns:a16="http://schemas.microsoft.com/office/drawing/2014/main" id="{AFBF0014-EEBF-4CD1-9B11-0B0BAABC5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5461000"/>
            <a:ext cx="1092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Thiết lập &gt; Nhập data cho mọi bảng. 100 dòng lịch sử có confidence giả lập; placeholder model không active và không có metric. Seed không thay model đang chạy.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16B56C0-D60B-4939-B547-68091ED4E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76E162-8170-4628-A49B-866ECF7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24A67E-698A-42B9-BF35-06D58A74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552ADD-47AC-41D9-9ABF-37120452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3200" b="1">
                <a:solidFill>
                  <a:srgbClr val="1F3B5E"/>
                </a:solidFill>
                <a:latin typeface="Calibri"/>
                <a:ea typeface="Calibri"/>
                <a:cs typeface="Calibri"/>
              </a:defRPr>
            </a:pPr>
            <a:r>
              <a:rPr sz="3200" b="1">
                <a:solidFill>
                  <a:srgbClr val="1F3B5E"/>
                </a:solidFill>
                <a:latin typeface="Calibri"/>
                <a:ea typeface="Calibri"/>
                <a:cs typeface="Calibri"/>
              </a:rPr>
              <a:t>So sánh hai thuật toán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CC1C8-3B3F-4AF0-A7B9-D9596806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100"/>
            </a:pPr>
            <a:r>
              <a:rPr sz="21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7" name="updated-Tập nền 338 mẫu, chia str">
            <a:extLst xmlns:a="http://schemas.openxmlformats.org/drawingml/2006/main">
              <a:ext uri="{FF2B5EF4-FFF2-40B4-BE49-F238E27FC236}">
                <a16:creationId xmlns:a16="http://schemas.microsoft.com/office/drawing/2014/main" id="{E16D2C15-05B8-4E89-97B0-495C0329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1422400"/>
            <a:ext cx="10922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Tập nền 338 mẫu, chia stratified 270 train và 68 test; random_state=42.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35000" y="2349500"/>
          <a:ext xmlns:a="http://schemas.openxmlformats.org/drawingml/2006/main" cx="109220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1809750"/>
                <a:gridCol w="1809750"/>
                <a:gridCol w="1809750"/>
                <a:gridCol w="180975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Thuật toán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Accuracy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Precision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Recall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F1</a:t>
                      </a:r>
                    </a:p>
                  </a:txBody>
                  <a:tcPr marL="91440" marR="91440" marT="45720" marB="45720" anchor="ctr">
                    <a:solidFill>
                      <a:srgbClr val="244766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MultinomialNB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LogisticRegression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700" b="0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</a:rPr>
                        <a:t>1,0000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updated-Confusion matrix mỗi mode">
            <a:extLst xmlns:a="http://schemas.openxmlformats.org/drawingml/2006/main">
              <a:ext uri="{FF2B5EF4-FFF2-40B4-BE49-F238E27FC236}">
                <a16:creationId xmlns:a16="http://schemas.microsoft.com/office/drawing/2014/main" id="{26F61E46-1F40-4946-8D62-91A1A165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4508500"/>
            <a:ext cx="109220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Confusion matrix mỗi model: [[34, 0], [0, 34]]. Lớp dương: SPAM.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00" b="0">
                <a:solidFill>
                  <a:srgbClr val="1E293B"/>
                </a:solidFill>
                <a:latin typeface="Calibri"/>
                <a:ea typeface="Calibri"/>
                <a:cs typeface="Calibri"/>
              </a:defRPr>
            </a:pPr>
            <a:r>
              <a:rPr sz="2000" b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Nhiều mẫu có cấu trúc lặp. Đây là đánh giá tập nền riêng, không phải đánh giá toàn bộ seed 100k hoặc email thật.</a:t>
            </a:r>
          </a:p>
        </p:txBody>
      </p:sp>
    </p:spTree>
    <p:extLst>
      <p:ext uri="{BB962C8B-B14F-4D97-AF65-F5344CB8AC3E}">
        <p14:creationId xmlns:p14="http://schemas.microsoft.com/office/powerpoint/2010/main" val="31288323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6971FF9-73D1-418D-AD8F-5FBE4DC5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4BBC52D-D471-44A3-802D-5FDC9BDD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23B06F9-A3C7-41DD-881C-1DC8A235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88BE173-1701-4094-8BAC-59073195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Kết quả đo được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C079259-86E1-49CA-88A7-54AA9BBB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34 test tự động đã qua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DB hiện có 100.338 email và 113 dòng lịch sử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Seed lớn: 100.000 mẫu, cân bằng hai nhãn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Model active: 20260926_231838_542289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So sánh riêng tập nền: 338 mẫu, chia 270/68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Kết quả holdout không đại diện cho email thật</a:t>
            </a:r>
          </a:p>
        </p:txBody>
      </p:sp>
    </p:spTree>
    <p:extLst>
      <p:ext uri="{BB962C8B-B14F-4D97-AF65-F5344CB8AC3E}">
        <p14:creationId xmlns:p14="http://schemas.microsoft.com/office/powerpoint/2010/main" val="2119853598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BEEC82-E8A7-44DC-AB42-84E5EC34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9B69136-0F3D-4C63-A5F3-3F41BD31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A8B828A-0C39-4666-87E4-DA93741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89748FF-3366-4801-B70A-F896844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Hạn chế và hướng phát triển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FA1363-6F3C-4744-A801-71CBC6F1F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300000"/>
            <a:ext cx="10500000" cy="4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Seed tổng hợp có cấu trúc lặp; cần corpus thật và cross-validation.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IP/domain chỉ so khớp nội bộ, chưa DNS/reputation hay chặn máy chủ thư.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Chưa upload CSV tùy ý, Gmail/Outlook hoặc retrain tự động.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00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1950"/>
            </a:pPr>
            <a:r>
              <a:rPr sz="1950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Ưu tiên tiếp: dữ liệu thật, thống kê nhãn, phân trang lịch sử, dashboard, hiệu chỉnh confidence, giới hạn login và audit log.</a:t>
            </a:r>
          </a:p>
        </p:txBody>
      </p:sp>
    </p:spTree>
    <p:extLst>
      <p:ext uri="{BB962C8B-B14F-4D97-AF65-F5344CB8AC3E}">
        <p14:creationId xmlns:p14="http://schemas.microsoft.com/office/powerpoint/2010/main" val="147641432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F92F36C-504D-407C-8DB4-F2FB10B6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3A2AED5-BEF2-4205-81D9-D20574347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3800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AC55D01-5905-4F32-9E35-EA143F16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53200"/>
            <a:ext cx="9048750" cy="243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900">
                <a:solidFill>
                  <a:srgbClr val="64748B"/>
                </a:solidFill>
                <a:latin typeface="Calibri"/>
                <a:ea typeface="Calibri"/>
                <a:cs typeface="Calibri"/>
              </a:defRPr>
            </a:pPr>
            <a:r>
              <a:rPr sz="900" b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UIT  •  Hệ thống Phân loại Email Spam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0A6BB4-1A8C-4126-BB58-4E2B1E16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00" y="220000"/>
            <a:ext cx="11400000" cy="7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2800" b="1">
                <a:solidFill>
                  <a:srgbClr val="1E3A5F"/>
                </a:solidFill>
                <a:latin typeface="Calibri"/>
                <a:ea typeface="Calibri"/>
                <a:cs typeface="Calibri"/>
              </a:rPr>
              <a:t>Kết luận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D21F27-30D9-4EFB-A3B7-76583DB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000" y="1400000"/>
            <a:ext cx="10500000" cy="4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Đã mở rộng ML và quản trị theo các luồng có thể demo.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Có phản hồi nhãn, NB/LR, tài khoản, IP/domain và Thiết lập.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Bộ seed 100k đi cùng project và có nút nạp cho mọi bảng.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34 test kiểm tra các hành vi chính.</a:t>
            </a:r>
          </a:p>
          <a:p xmlns:a="http://schemas.openxmlformats.org/drawingml/2006/main">
            <a:pPr algn="l">
              <a:spcAft>
                <a:spcPts val="600"/>
              </a:spcAft>
              <a:buNone/>
              <a:defRPr sz="2025"/>
            </a:pPr>
            <a:r>
              <a:rPr sz="2025" b="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Kết quả ML vẫn giới hạn ở dữ liệu demo tổng hợp.</a:t>
            </a:r>
          </a:p>
        </p:txBody>
      </p:sp>
    </p:spTree>
    <p:extLst>
      <p:ext uri="{BB962C8B-B14F-4D97-AF65-F5344CB8AC3E}">
        <p14:creationId xmlns:p14="http://schemas.microsoft.com/office/powerpoint/2010/main" val="162515726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0AD50FB-B044-4996-93E0-BBAD8B76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5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9BF510-9870-4BCB-B9BD-FC04FC18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AEE71CF-F3EA-44D0-AE94-55932C99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2200000"/>
            <a:ext cx="110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5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 &amp; A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D110F9B-B66B-445F-8B41-07C9CD8B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00" y="3600000"/>
            <a:ext cx="110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Aft>
                <a:spcPts val="600"/>
              </a:spcAft>
              <a:buNone/>
            </a:pPr>
            <a:r>
              <a:rPr sz="22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Cảm ơn thầy/cô đã lắng nghe.</a:t>
            </a:r>
          </a:p>
        </p:txBody>
      </p:sp>
    </p:spTree>
    <p:extLst>
      <p:ext uri="{BB962C8B-B14F-4D97-AF65-F5344CB8AC3E}">
        <p14:creationId xmlns:p14="http://schemas.microsoft.com/office/powerpoint/2010/main" val="121007100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2026-09-26T17:07:39.0380000Z</dcterms:created>
  <dcterms:modified xsi:type="dcterms:W3CDTF">2026-09-26T17:07:39.0380000Z</dcterms:modified>
</coreProperties>
</file>